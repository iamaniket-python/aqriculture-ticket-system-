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3" r:id="rId8"/>
    <p:sldId id="260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47182-CD41-4A5B-AFAB-BF4D8A3DE292}" v="81" dt="2026-04-09T06:27:39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7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7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1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6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6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9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6460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73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1553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0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87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9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8C9E8-2BAC-4300-BEEE-834D2C79366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7569C07-FA4F-4230-838A-04C9954DB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9/07/creative-examples-of-landing-pages-that-convert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rnfield-wheat-fields-field-wheat-373284/" TargetMode="External"/><Relationship Id="rId7" Type="http://schemas.openxmlformats.org/officeDocument/2006/relationships/hyperlink" Target="https://openclipart.org/detail/84859/a-flying-pigeon-delivering-a-messag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hyperlink" Target="https://sharepointmaven.com/7-ways-to-create-a-form-in-forms-application/" TargetMode="Externa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and-leave-pen-paper-thank-you-226358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401A-09B1-D935-33D5-756E095BF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69573"/>
            <a:ext cx="9144000" cy="1140389"/>
          </a:xfrm>
        </p:spPr>
        <p:txBody>
          <a:bodyPr>
            <a:normAutofit/>
          </a:bodyPr>
          <a:lstStyle/>
          <a:p>
            <a:r>
              <a:rPr lang="en-US" dirty="0"/>
              <a:t>Issue </a:t>
            </a:r>
            <a:r>
              <a:rPr lang="en-US" dirty="0">
                <a:latin typeface="Bauhaus 93" panose="04030905020B02020C02" pitchFamily="82" charset="0"/>
              </a:rPr>
              <a:t>Tracking</a:t>
            </a:r>
            <a:r>
              <a:rPr lang="en-US" dirty="0"/>
              <a:t>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B6964-8F8C-9292-0BB5-B39532E97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7510"/>
          </a:xfrm>
        </p:spPr>
        <p:txBody>
          <a:bodyPr/>
          <a:lstStyle/>
          <a:p>
            <a:r>
              <a:rPr lang="en-US" i="1" dirty="0">
                <a:latin typeface="Bahnschrift SemiBold" panose="020B0502040204020203" pitchFamily="34" charset="0"/>
              </a:rPr>
              <a:t>Frontend + Backend Design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pic>
        <p:nvPicPr>
          <p:cNvPr id="11" name="Graphic 10" descr="Duck with solid fill">
            <a:extLst>
              <a:ext uri="{FF2B5EF4-FFF2-40B4-BE49-F238E27FC236}">
                <a16:creationId xmlns:a16="http://schemas.microsoft.com/office/drawing/2014/main" id="{9A32AD60-8FD7-6B99-4100-869A01F05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3407" y="2760252"/>
            <a:ext cx="668748" cy="6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9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6E90-457F-1A9F-DF0C-FC65B0E18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866" y="445453"/>
            <a:ext cx="7177548" cy="508275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F65CB-2295-1062-31A7-BCA5373F6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568" y="1317523"/>
            <a:ext cx="11169445" cy="52307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Issue Tracking System is a web-based application that allows users to raise issues and track their status in a simple and efficient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Users can create a ticket by adding a title, description, and optional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issue is sent to the admin for review and resolution.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Admin can update the issue status as Pending or 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Users can view their issues, check status, and see admin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system also sends notifications (email/message) when the issue is 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main goal of this project is to provide a simple, transparent, and user-friendly platform for managing and resolving user issues efficiently.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799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A221-35A4-6CB0-5896-E1EF6F8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639" y="609600"/>
            <a:ext cx="8200972" cy="432619"/>
          </a:xfrm>
        </p:spPr>
        <p:txBody>
          <a:bodyPr>
            <a:normAutofit fontScale="90000"/>
          </a:bodyPr>
          <a:lstStyle/>
          <a:p>
            <a:r>
              <a:rPr lang="en-US" dirty="0"/>
              <a:t>Landing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AAB7E-B435-6174-A604-CB1A5FCB6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3135" y="1873136"/>
            <a:ext cx="8915399" cy="155586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5520F-9FDE-564E-DD05-9A57F1015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97306" y="1480731"/>
            <a:ext cx="9463983" cy="323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15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BC4A-EB2B-5F82-3B12-8D28CF35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471" y="308993"/>
            <a:ext cx="8112482" cy="639097"/>
          </a:xfrm>
        </p:spPr>
        <p:txBody>
          <a:bodyPr>
            <a:normAutofit fontScale="90000"/>
          </a:bodyPr>
          <a:lstStyle/>
          <a:p>
            <a:r>
              <a:rPr lang="en-US" dirty="0"/>
              <a:t>Authentication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6779E-6963-1238-95E3-189920E1D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156" y="1445342"/>
            <a:ext cx="9872456" cy="418854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User and Admin can log in, but they have different roles and access permissions in the system Login using email/mobile and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User signs up and logs in using email/mobile and password to access the user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Admin logs in with secure credentials and is redirected to the admin panel to manage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ensures secure authentication and access control, so only authorized users can use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5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581A-B730-FD10-D698-F4CD718B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406" y="609600"/>
            <a:ext cx="7601205" cy="629265"/>
          </a:xfrm>
        </p:spPr>
        <p:txBody>
          <a:bodyPr>
            <a:normAutofit fontScale="90000"/>
          </a:bodyPr>
          <a:lstStyle/>
          <a:p>
            <a:r>
              <a:rPr lang="en-US" dirty="0"/>
              <a:t>Raise Issue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27E5C-AD15-9FEB-C990-B3BD35AC9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8725" y="2874664"/>
            <a:ext cx="9872457" cy="966388"/>
          </a:xfrm>
        </p:spPr>
        <p:txBody>
          <a:bodyPr/>
          <a:lstStyle/>
          <a:p>
            <a:r>
              <a:rPr lang="en-US" b="1" dirty="0"/>
              <a:t> Upload Image</a:t>
            </a:r>
          </a:p>
          <a:p>
            <a:r>
              <a:rPr lang="en-US" dirty="0"/>
              <a:t>Attach screenshots or photos to illustrate the issue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4DE8A-3458-E3EB-01EE-219A955B4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01056" y="1032386"/>
            <a:ext cx="4103555" cy="17796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E861F2-1A90-4376-97FD-16404D2E1740}"/>
              </a:ext>
            </a:extLst>
          </p:cNvPr>
          <p:cNvSpPr txBox="1"/>
          <p:nvPr/>
        </p:nvSpPr>
        <p:spPr>
          <a:xfrm>
            <a:off x="1728725" y="4027948"/>
            <a:ext cx="55060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Add Details</a:t>
            </a:r>
          </a:p>
          <a:p>
            <a:pPr>
              <a:buNone/>
            </a:pPr>
            <a:r>
              <a:rPr lang="en-US" dirty="0"/>
              <a:t>Enter phone number, name, and description of the problem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8211AD-88F5-005C-2505-FCB9832B2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401055" y="3018504"/>
            <a:ext cx="4103555" cy="16026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D7012F-6FC9-0C65-3E6D-3FADE6990A55}"/>
              </a:ext>
            </a:extLst>
          </p:cNvPr>
          <p:cNvSpPr txBox="1"/>
          <p:nvPr/>
        </p:nvSpPr>
        <p:spPr>
          <a:xfrm rot="10800000" flipV="1">
            <a:off x="1730476" y="5325070"/>
            <a:ext cx="55525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Submit Request</a:t>
            </a:r>
          </a:p>
          <a:p>
            <a:pPr>
              <a:buNone/>
            </a:pPr>
            <a:r>
              <a:rPr lang="en-US" dirty="0"/>
              <a:t>Click submit to send the issue to the admin queue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63914F-5C2E-81C6-C788-D63B08A4A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615596" y="4489613"/>
            <a:ext cx="4014198" cy="21176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37AFFA-C9A6-BD80-87A3-BE2406A91941}"/>
              </a:ext>
            </a:extLst>
          </p:cNvPr>
          <p:cNvSpPr txBox="1"/>
          <p:nvPr/>
        </p:nvSpPr>
        <p:spPr>
          <a:xfrm>
            <a:off x="1728725" y="1543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</a:t>
            </a:r>
          </a:p>
          <a:p>
            <a:pPr>
              <a:buNone/>
            </a:pPr>
            <a:r>
              <a:rPr lang="en-US" dirty="0"/>
              <a:t>Brief summary of the problem</a:t>
            </a:r>
          </a:p>
        </p:txBody>
      </p:sp>
    </p:spTree>
    <p:extLst>
      <p:ext uri="{BB962C8B-B14F-4D97-AF65-F5344CB8AC3E}">
        <p14:creationId xmlns:p14="http://schemas.microsoft.com/office/powerpoint/2010/main" val="75287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BB16-0740-5F21-6ECE-62F9C9D5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511277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Required Fields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9438B-B6F0-C084-A070-E02EA193F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162" y="1297858"/>
            <a:ext cx="9931450" cy="1061884"/>
          </a:xfrm>
        </p:spPr>
        <p:txBody>
          <a:bodyPr/>
          <a:lstStyle/>
          <a:p>
            <a:r>
              <a:rPr lang="en-US" b="1" dirty="0"/>
              <a:t>Image field </a:t>
            </a:r>
          </a:p>
          <a:p>
            <a:r>
              <a:rPr lang="en-US" dirty="0"/>
              <a:t>Can be configured as optional or mandatory based on system requirements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B7A8C-B550-6148-07AF-F01EB7966D04}"/>
              </a:ext>
            </a:extLst>
          </p:cNvPr>
          <p:cNvSpPr txBox="1"/>
          <p:nvPr/>
        </p:nvSpPr>
        <p:spPr>
          <a:xfrm>
            <a:off x="1573162" y="3429000"/>
            <a:ext cx="4906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Full Name</a:t>
            </a:r>
          </a:p>
          <a:p>
            <a:pPr>
              <a:buNone/>
            </a:pPr>
            <a:r>
              <a:rPr lang="en-US" dirty="0"/>
              <a:t> User identification field (first name + last name)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32B5C-36FB-C35F-910D-BB5344E58E38}"/>
              </a:ext>
            </a:extLst>
          </p:cNvPr>
          <p:cNvSpPr txBox="1"/>
          <p:nvPr/>
        </p:nvSpPr>
        <p:spPr>
          <a:xfrm>
            <a:off x="1573162" y="4696598"/>
            <a:ext cx="868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Description</a:t>
            </a:r>
          </a:p>
          <a:p>
            <a:pPr>
              <a:buNone/>
            </a:pPr>
            <a:r>
              <a:rPr lang="en-US" dirty="0"/>
              <a:t>Detailed explanation of the issue encountered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8D6A20-52DE-54A5-4900-35137035717E}"/>
              </a:ext>
            </a:extLst>
          </p:cNvPr>
          <p:cNvSpPr txBox="1"/>
          <p:nvPr/>
        </p:nvSpPr>
        <p:spPr>
          <a:xfrm>
            <a:off x="1573162" y="2380844"/>
            <a:ext cx="7570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Mobile Number</a:t>
            </a:r>
          </a:p>
          <a:p>
            <a:pPr>
              <a:buNone/>
            </a:pPr>
            <a:r>
              <a:rPr lang="en-US" dirty="0"/>
              <a:t>Contact information for follow-up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369782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48D3-2B02-4F30-A7B6-094BF4C2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609600"/>
            <a:ext cx="8151811" cy="698090"/>
          </a:xfrm>
        </p:spPr>
        <p:txBody>
          <a:bodyPr>
            <a:normAutofit fontScale="90000"/>
          </a:bodyPr>
          <a:lstStyle/>
          <a:p>
            <a:r>
              <a:rPr lang="en-US" dirty="0"/>
              <a:t>User Dashboard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389F0-C828-6507-71DE-61E45EC90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1122" y="1601013"/>
            <a:ext cx="8915399" cy="4770289"/>
          </a:xfrm>
        </p:spPr>
        <p:txBody>
          <a:bodyPr>
            <a:normAutofit/>
          </a:bodyPr>
          <a:lstStyle/>
          <a:p>
            <a:r>
              <a:rPr lang="en-US" b="1" dirty="0"/>
              <a:t>My Tickets</a:t>
            </a:r>
          </a:p>
          <a:p>
            <a:r>
              <a:rPr lang="en-US" dirty="0"/>
              <a:t>View all submitted issues with current status and resolution progress</a:t>
            </a:r>
          </a:p>
          <a:p>
            <a:endParaRPr lang="en-US" dirty="0"/>
          </a:p>
          <a:p>
            <a:r>
              <a:rPr lang="en-US" b="1" dirty="0"/>
              <a:t>Notifications</a:t>
            </a:r>
          </a:p>
          <a:p>
            <a:r>
              <a:rPr lang="en-US" dirty="0"/>
              <a:t>Real-time updates on ticket status changes and admin responses</a:t>
            </a:r>
          </a:p>
          <a:p>
            <a:endParaRPr lang="en-US" dirty="0"/>
          </a:p>
          <a:p>
            <a:r>
              <a:rPr lang="en-US" b="1" dirty="0"/>
              <a:t>Activity History</a:t>
            </a:r>
          </a:p>
          <a:p>
            <a:r>
              <a:rPr lang="en-US" dirty="0"/>
              <a:t>Complete timeline of all interactions and communications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user dashboard allows users to view and track all their raised issues along with their status (Pending or Resolved).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58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5786-4C51-A417-95DF-CAB41C9D2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342" y="501445"/>
            <a:ext cx="8427113" cy="11897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</a:t>
            </a:r>
            <a:r>
              <a:rPr lang="en-US" dirty="0"/>
              <a:t>Admin Panel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ECF37-951C-247C-02B8-BD69EE86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1425678"/>
            <a:ext cx="9872456" cy="4001728"/>
          </a:xfrm>
        </p:spPr>
        <p:txBody>
          <a:bodyPr>
            <a:normAutofit/>
          </a:bodyPr>
          <a:lstStyle/>
          <a:p>
            <a:r>
              <a:rPr lang="en-US" b="1" dirty="0"/>
              <a:t>Pending Issues</a:t>
            </a:r>
          </a:p>
          <a:p>
            <a:r>
              <a:rPr lang="en-US" dirty="0"/>
              <a:t>View all unresolved tickets requiring attention with priority sorting and filtering options</a:t>
            </a:r>
          </a:p>
          <a:p>
            <a:endParaRPr lang="en-US" dirty="0"/>
          </a:p>
          <a:p>
            <a:r>
              <a:rPr lang="en-US" b="1" dirty="0"/>
              <a:t>Issue Details</a:t>
            </a:r>
          </a:p>
          <a:p>
            <a:r>
              <a:rPr lang="en-US" dirty="0"/>
              <a:t>Examine complete ticket information including title, description, images, and user contact details</a:t>
            </a:r>
          </a:p>
          <a:p>
            <a:endParaRPr lang="en-US" dirty="0"/>
          </a:p>
          <a:p>
            <a:r>
              <a:rPr lang="en-US" b="1" dirty="0"/>
              <a:t>Mark Resolved</a:t>
            </a:r>
          </a:p>
          <a:p>
            <a:r>
              <a:rPr lang="en-US" dirty="0"/>
              <a:t>Update ticket status and add resolution notes when issue has been addressed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266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110D-AB31-47B3-D515-45EC4D7D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445" y="609600"/>
            <a:ext cx="7955166" cy="766916"/>
          </a:xfrm>
        </p:spPr>
        <p:txBody>
          <a:bodyPr>
            <a:normAutofit fontScale="90000"/>
          </a:bodyPr>
          <a:lstStyle/>
          <a:p>
            <a:r>
              <a:rPr lang="en-US" dirty="0"/>
              <a:t>Backend APIs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1E253-E618-584B-4C1B-DAFC6F72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679670"/>
            <a:ext cx="8915399" cy="4455659"/>
          </a:xfrm>
        </p:spPr>
        <p:txBody>
          <a:bodyPr>
            <a:normAutofit/>
          </a:bodyPr>
          <a:lstStyle/>
          <a:p>
            <a:r>
              <a:rPr lang="en-US" b="1" dirty="0"/>
              <a:t>API Endpoints: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authentication and session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 creation and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Status update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Notification service triggers.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History and audit logging</a:t>
            </a:r>
          </a:p>
          <a:p>
            <a:endParaRPr lang="en-US" dirty="0"/>
          </a:p>
          <a:p>
            <a:r>
              <a:rPr lang="en-US" b="1" dirty="0"/>
              <a:t>Data Flow:</a:t>
            </a:r>
          </a:p>
          <a:p>
            <a:r>
              <a:rPr lang="en-US" dirty="0"/>
              <a:t>RESTful endpoints handle JSON requests and responses, ensuring efficient data transfer between frontend and database layers.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4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E607-092D-E28C-FF34-05D19089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97" y="609600"/>
            <a:ext cx="8122314" cy="462116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Design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DBD-E369-C83F-0FB3-0F76D4862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2658" y="1512523"/>
            <a:ext cx="10255045" cy="400337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Users Table</a:t>
            </a:r>
          </a:p>
          <a:p>
            <a:r>
              <a:rPr lang="en-US" dirty="0"/>
              <a:t>User profiles storing personal information, credentials, and contact details.</a:t>
            </a:r>
          </a:p>
          <a:p>
            <a:endParaRPr lang="en-US" dirty="0"/>
          </a:p>
          <a:p>
            <a:r>
              <a:rPr lang="en-US" b="1" dirty="0"/>
              <a:t>Issues Table</a:t>
            </a:r>
          </a:p>
          <a:p>
            <a:r>
              <a:rPr lang="en-US" dirty="0"/>
              <a:t>Ticket records with titles, descriptions, status, timestamps, and foreign keys</a:t>
            </a:r>
          </a:p>
          <a:p>
            <a:endParaRPr lang="en-US" dirty="0"/>
          </a:p>
          <a:p>
            <a:r>
              <a:rPr lang="en-US" b="1" dirty="0"/>
              <a:t>Images Table</a:t>
            </a:r>
          </a:p>
          <a:p>
            <a:r>
              <a:rPr lang="en-US" dirty="0"/>
              <a:t>Image attachments linked to specific issues with metadata storage</a:t>
            </a:r>
          </a:p>
          <a:p>
            <a:endParaRPr lang="en-US" dirty="0"/>
          </a:p>
          <a:p>
            <a:r>
              <a:rPr lang="en-US" b="1" dirty="0"/>
              <a:t>Responses Table</a:t>
            </a:r>
          </a:p>
          <a:p>
            <a:r>
              <a:rPr lang="en-US" dirty="0"/>
              <a:t>Complete communication history between users and administrators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39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B3D3-F8CB-B9DB-9219-30FED43E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774" y="245806"/>
            <a:ext cx="7915837" cy="904568"/>
          </a:xfrm>
        </p:spPr>
        <p:txBody>
          <a:bodyPr>
            <a:normAutofit fontScale="90000"/>
          </a:bodyPr>
          <a:lstStyle/>
          <a:p>
            <a:r>
              <a:rPr lang="en-US" dirty="0"/>
              <a:t>Notifications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838D8-C1B8-6467-4095-37452B3A1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1457" y="1848465"/>
            <a:ext cx="8915399" cy="419837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Email Alert</a:t>
            </a:r>
          </a:p>
          <a:p>
            <a:r>
              <a:rPr lang="en-US" dirty="0"/>
              <a:t>Admin receives email notification</a:t>
            </a:r>
          </a:p>
          <a:p>
            <a:endParaRPr lang="en-US" dirty="0"/>
          </a:p>
          <a:p>
            <a:r>
              <a:rPr lang="en-US" b="1" dirty="0"/>
              <a:t>System Message</a:t>
            </a:r>
          </a:p>
          <a:p>
            <a:r>
              <a:rPr lang="en-US" dirty="0"/>
              <a:t>In-app notification appears immediately</a:t>
            </a:r>
          </a:p>
          <a:p>
            <a:endParaRPr lang="en-US" dirty="0"/>
          </a:p>
          <a:p>
            <a:r>
              <a:rPr lang="en-US" b="1" dirty="0"/>
              <a:t>Queue Update</a:t>
            </a:r>
          </a:p>
          <a:p>
            <a:r>
              <a:rPr lang="en-US" dirty="0"/>
              <a:t>Issue added to pending list</a:t>
            </a:r>
          </a:p>
          <a:p>
            <a:endParaRPr lang="en-US" dirty="0"/>
          </a:p>
          <a:p>
            <a:r>
              <a:rPr lang="en-US" dirty="0"/>
              <a:t>Email notifications and in-app messages trigger automatically when issues are resolved or updated.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7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C170-12B7-EFC7-6017-CF321BA5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84" y="609600"/>
            <a:ext cx="8309127" cy="530942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Stack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B3B02-AD9A-3BFB-B5C1-81D6C0646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6657" y="1394536"/>
            <a:ext cx="8915399" cy="4603141"/>
          </a:xfrm>
        </p:spPr>
        <p:txBody>
          <a:bodyPr>
            <a:normAutofit/>
          </a:bodyPr>
          <a:lstStyle/>
          <a:p>
            <a:r>
              <a:rPr lang="en-US" b="1" dirty="0"/>
              <a:t>Frontend:</a:t>
            </a:r>
            <a:r>
              <a:rPr lang="en-US" dirty="0"/>
              <a:t> HTML, CSS, JavaScript (Django Templates for UI rendering)</a:t>
            </a:r>
          </a:p>
          <a:p>
            <a:r>
              <a:rPr lang="en-US" b="1" dirty="0"/>
              <a:t>Backend:</a:t>
            </a:r>
            <a:r>
              <a:rPr lang="en-US" dirty="0"/>
              <a:t> Python with Django / Django REST Framework for handling business logic and APIs</a:t>
            </a:r>
          </a:p>
          <a:p>
            <a:r>
              <a:rPr lang="en-US" b="1" dirty="0"/>
              <a:t>Database:</a:t>
            </a:r>
            <a:r>
              <a:rPr lang="en-US" dirty="0"/>
              <a:t> PostgreSQL or MySQL for storing user and issue data</a:t>
            </a:r>
          </a:p>
          <a:p>
            <a:r>
              <a:rPr lang="en-US" b="1" dirty="0"/>
              <a:t>Authentication:</a:t>
            </a:r>
            <a:r>
              <a:rPr lang="en-US" dirty="0"/>
              <a:t> Django Authentication system or JWT for secure login and access control.</a:t>
            </a:r>
          </a:p>
          <a:p>
            <a:r>
              <a:rPr lang="en-US" b="1" dirty="0"/>
              <a:t>Email Service:</a:t>
            </a:r>
            <a:r>
              <a:rPr lang="en-US" dirty="0"/>
              <a:t> SMTP (Django Email Backend) for sending notifications and updates.</a:t>
            </a:r>
          </a:p>
          <a:p>
            <a:r>
              <a:rPr lang="en-US" b="1" dirty="0"/>
              <a:t>Storage:</a:t>
            </a:r>
            <a:r>
              <a:rPr lang="en-US" dirty="0"/>
              <a:t> Cloud-based storage (AWS S3 / Cloud nary) for image upload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422450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3EA48-8C91-46BC-985B-8FB584E86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294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1391</TotalTime>
  <Words>635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SemiBold</vt:lpstr>
      <vt:lpstr>Bauhaus 93</vt:lpstr>
      <vt:lpstr>Century Gothic</vt:lpstr>
      <vt:lpstr>Wingdings 3</vt:lpstr>
      <vt:lpstr>Wisp</vt:lpstr>
      <vt:lpstr>Issue Tracking System</vt:lpstr>
      <vt:lpstr>Project Description</vt:lpstr>
      <vt:lpstr>Landing Page</vt:lpstr>
      <vt:lpstr>Authentication System</vt:lpstr>
      <vt:lpstr>Raise Issue </vt:lpstr>
      <vt:lpstr>      Required Fields </vt:lpstr>
      <vt:lpstr>User Dashboard </vt:lpstr>
      <vt:lpstr>  Admin Panel  </vt:lpstr>
      <vt:lpstr>Backend APIs </vt:lpstr>
      <vt:lpstr>Database Design </vt:lpstr>
      <vt:lpstr>Notifications System </vt:lpstr>
      <vt:lpstr>Technology Stack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srivastava</dc:creator>
  <cp:lastModifiedBy>Aniket srivastava</cp:lastModifiedBy>
  <cp:revision>2</cp:revision>
  <dcterms:created xsi:type="dcterms:W3CDTF">2026-04-08T07:10:13Z</dcterms:created>
  <dcterms:modified xsi:type="dcterms:W3CDTF">2026-04-09T06:29:31Z</dcterms:modified>
</cp:coreProperties>
</file>